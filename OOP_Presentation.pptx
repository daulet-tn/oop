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16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3951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1C7B8"/>
          </a:solidFill>
          <a:ln w="12700">
            <a:solidFill>
              <a:srgbClr val="21C7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21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 •  OBJECT-ORIENTED PROGRAMMING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University Management System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modular, multi-role academic platform built on classic OOP principles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1371600" cy="0"/>
          </a:xfrm>
          <a:prstGeom prst="line">
            <a:avLst/>
          </a:prstGeom>
          <a:noFill/>
          <a:ln w="25400">
            <a:solidFill>
              <a:srgbClr val="21C7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1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r>
              <a:rPr lang="kk-KZ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Design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4023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does and who uses 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manages every day-to-day operation of a modern university — </a:t>
            </a: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teachers, courses, research, and internal communication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under one cohesive object model.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six core roles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academic &amp; research entities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classic GoF design patterns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 hierarchy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0" y="1417320"/>
            <a:ext cx="1508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5486400" y="155448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0" y="2377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classes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78040" y="1417320"/>
            <a:ext cx="1508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7178040" y="155448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7178040" y="2377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3108960"/>
            <a:ext cx="1508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5486400" y="324612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5486400" y="40690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78040" y="3108960"/>
            <a:ext cx="1508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7178040" y="324612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7178040" y="40690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1C7B8"/>
          </a:solidFill>
          <a:ln w="12700">
            <a:solidFill>
              <a:srgbClr val="21C7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Management System  |  OOP Project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packages, separated by responsibility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73152" cy="914400"/>
          </a:xfrm>
          <a:prstGeom prst="rect">
            <a:avLst/>
          </a:prstGeom>
          <a:solidFill>
            <a:srgbClr val="21C7B8"/>
          </a:solidFill>
          <a:ln w="12700">
            <a:solidFill>
              <a:srgbClr val="21C7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556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Student, Teacher, Manager, Admin, ResearchEmployee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73152" cy="914400"/>
          </a:xfrm>
          <a:prstGeom prst="rect">
            <a:avLst/>
          </a:prstGeom>
          <a:solidFill>
            <a:srgbClr val="21C7B8"/>
          </a:solidFill>
          <a:ln w="12700">
            <a:solidFill>
              <a:srgbClr val="21C7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3429000" y="1463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7556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Course, Lesson, Mark, Transcript, ResearchPaper/Project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73152" cy="914400"/>
          </a:xfrm>
          <a:prstGeom prst="rect">
            <a:avLst/>
          </a:prstGeom>
          <a:solidFill>
            <a:srgbClr val="21C7B8"/>
          </a:solidFill>
          <a:ln w="12700">
            <a:solidFill>
              <a:srgbClr val="21C7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6309360" y="1463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17556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Logger, UserFactory  (singletons)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42316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7" name="Shape 15"/>
          <p:cNvSpPr/>
          <p:nvPr/>
        </p:nvSpPr>
        <p:spPr>
          <a:xfrm>
            <a:off x="365760" y="2423160"/>
            <a:ext cx="73152" cy="914400"/>
          </a:xfrm>
          <a:prstGeom prst="rect">
            <a:avLst/>
          </a:prstGeom>
          <a:solidFill>
            <a:srgbClr val="21C7B8"/>
          </a:solidFill>
          <a:ln w="12700">
            <a:solidFill>
              <a:srgbClr val="21C7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54864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28072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Request, Complaint, News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242316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1" name="Shape 19"/>
          <p:cNvSpPr/>
          <p:nvPr/>
        </p:nvSpPr>
        <p:spPr>
          <a:xfrm>
            <a:off x="3246120" y="2423160"/>
            <a:ext cx="73152" cy="914400"/>
          </a:xfrm>
          <a:prstGeom prst="rect">
            <a:avLst/>
          </a:prstGeom>
          <a:solidFill>
            <a:srgbClr val="21C7B8"/>
          </a:solidFill>
          <a:ln w="12700">
            <a:solidFill>
              <a:srgbClr val="21C7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342900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29000" y="28072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242316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5" name="Shape 23"/>
          <p:cNvSpPr/>
          <p:nvPr/>
        </p:nvSpPr>
        <p:spPr>
          <a:xfrm>
            <a:off x="6126480" y="2423160"/>
            <a:ext cx="73152" cy="914400"/>
          </a:xfrm>
          <a:prstGeom prst="rect">
            <a:avLst/>
          </a:prstGeom>
          <a:solidFill>
            <a:srgbClr val="21C7B8"/>
          </a:solidFill>
          <a:ln w="12700">
            <a:solidFill>
              <a:srgbClr val="21C7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Text 24"/>
          <p:cNvSpPr/>
          <p:nvPr/>
        </p:nvSpPr>
        <p:spPr>
          <a:xfrm>
            <a:off x="630936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28072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Printable, Observer, Observable, Researcher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47472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9" name="Shape 27"/>
          <p:cNvSpPr/>
          <p:nvPr/>
        </p:nvSpPr>
        <p:spPr>
          <a:xfrm>
            <a:off x="365760" y="3474720"/>
            <a:ext cx="73152" cy="914400"/>
          </a:xfrm>
          <a:prstGeom prst="rect">
            <a:avLst/>
          </a:prstGeom>
          <a:solidFill>
            <a:srgbClr val="21C7B8"/>
          </a:solidFill>
          <a:ln w="12700">
            <a:solidFill>
              <a:srgbClr val="21C7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Text 28"/>
          <p:cNvSpPr/>
          <p:nvPr/>
        </p:nvSpPr>
        <p:spPr>
          <a:xfrm>
            <a:off x="548640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38587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UserRole, TeacherTitle, ManagerType, …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46120" y="347472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3" name="Shape 31"/>
          <p:cNvSpPr/>
          <p:nvPr/>
        </p:nvSpPr>
        <p:spPr>
          <a:xfrm>
            <a:off x="3246120" y="3474720"/>
            <a:ext cx="73152" cy="914400"/>
          </a:xfrm>
          <a:prstGeom prst="rect">
            <a:avLst/>
          </a:prstGeom>
          <a:solidFill>
            <a:srgbClr val="21C7B8"/>
          </a:solidFill>
          <a:ln w="12700">
            <a:solidFill>
              <a:srgbClr val="21C7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4" name="Text 32"/>
          <p:cNvSpPr/>
          <p:nvPr/>
        </p:nvSpPr>
        <p:spPr>
          <a:xfrm>
            <a:off x="3429000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429000" y="38587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checked exceptions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26480" y="347472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7" name="Shape 35"/>
          <p:cNvSpPr/>
          <p:nvPr/>
        </p:nvSpPr>
        <p:spPr>
          <a:xfrm>
            <a:off x="6126480" y="3474720"/>
            <a:ext cx="73152" cy="914400"/>
          </a:xfrm>
          <a:prstGeom prst="rect">
            <a:avLst/>
          </a:prstGeom>
          <a:solidFill>
            <a:srgbClr val="21C7B8"/>
          </a:solidFill>
          <a:ln w="12700">
            <a:solidFill>
              <a:srgbClr val="21C7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8" name="Text 36"/>
          <p:cNvSpPr/>
          <p:nvPr/>
        </p:nvSpPr>
        <p:spPr>
          <a:xfrm>
            <a:off x="6309360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(root)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309360" y="38587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Main.java — entry point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1C7B8"/>
          </a:solidFill>
          <a:ln w="12700">
            <a:solidFill>
              <a:srgbClr val="21C7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1" name="Text 39"/>
          <p:cNvSpPr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Management System  |  OOP Project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Hierarchy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from the abstract User class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383280" y="1280160"/>
            <a:ext cx="2377440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065A82"/>
            </a:solidFill>
            <a:prstDash val="solid"/>
          </a:ln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3383280" y="1280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«abstract» User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783080"/>
            <a:ext cx="0" cy="32004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5"/>
          <p:cNvSpPr/>
          <p:nvPr/>
        </p:nvSpPr>
        <p:spPr>
          <a:xfrm>
            <a:off x="1828800" y="2103120"/>
            <a:ext cx="548640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6"/>
          <p:cNvSpPr/>
          <p:nvPr/>
        </p:nvSpPr>
        <p:spPr>
          <a:xfrm>
            <a:off x="1828800" y="2103120"/>
            <a:ext cx="0" cy="27432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7315200" y="2103120"/>
            <a:ext cx="0" cy="27432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1005840" y="2377440"/>
            <a:ext cx="164592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100584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2377440"/>
            <a:ext cx="1645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649224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28800" y="2834640"/>
            <a:ext cx="0" cy="45720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41148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0" cy="22860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Shape 15"/>
          <p:cNvSpPr/>
          <p:nvPr/>
        </p:nvSpPr>
        <p:spPr>
          <a:xfrm>
            <a:off x="365760" y="352044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365760" y="35204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965960" y="3291840"/>
            <a:ext cx="0" cy="22860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Shape 18"/>
          <p:cNvSpPr/>
          <p:nvPr/>
        </p:nvSpPr>
        <p:spPr>
          <a:xfrm>
            <a:off x="1463040" y="352044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1463040" y="35204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063240" y="3291840"/>
            <a:ext cx="0" cy="22860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Shape 21"/>
          <p:cNvSpPr/>
          <p:nvPr/>
        </p:nvSpPr>
        <p:spPr>
          <a:xfrm>
            <a:off x="2560320" y="352044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4" name="Text 22"/>
          <p:cNvSpPr/>
          <p:nvPr/>
        </p:nvSpPr>
        <p:spPr>
          <a:xfrm>
            <a:off x="2560320" y="35204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60520" y="3291840"/>
            <a:ext cx="0" cy="22860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Shape 24"/>
          <p:cNvSpPr/>
          <p:nvPr/>
        </p:nvSpPr>
        <p:spPr>
          <a:xfrm>
            <a:off x="3657600" y="352044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7" name="Text 25"/>
          <p:cNvSpPr/>
          <p:nvPr/>
        </p:nvSpPr>
        <p:spPr>
          <a:xfrm>
            <a:off x="3657600" y="35204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ResearchEmployee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852160" y="3291840"/>
            <a:ext cx="2926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Text 27"/>
          <p:cNvSpPr/>
          <p:nvPr/>
        </p:nvSpPr>
        <p:spPr>
          <a:xfrm>
            <a:off x="598932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89320" y="3703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Observer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Mark, Transcript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MaxCreditsExceededException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1C7B8"/>
          </a:solidFill>
          <a:ln w="12700">
            <a:solidFill>
              <a:srgbClr val="21C7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Text 30"/>
          <p:cNvSpPr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Management System  |  OOP Project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Courses, lessons, marks and transcripts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0574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057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courseId, name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credits, maxStudents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teacher, students[]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lessons[]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20574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2560320" y="1371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60320" y="1828800"/>
            <a:ext cx="2057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2651760" y="19202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lessonId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(LessonType)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20574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4754880" y="1371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828800"/>
            <a:ext cx="2057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4846320" y="19202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course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att1, att2, finalExam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getTotal()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getLetterGrade()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1371600"/>
            <a:ext cx="20574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6949440" y="1371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Transcript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49440" y="1828800"/>
            <a:ext cx="2057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7040880" y="19202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marks[]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printTranscript()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931920"/>
            <a:ext cx="8412480" cy="7315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548640" y="3931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→ registers for → Course → contains → Lesson;  Teacher → assigns → Mark → builds → Transcript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1C7B8"/>
          </a:solidFill>
          <a:ln w="12700">
            <a:solidFill>
              <a:srgbClr val="21C7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Management System  |  OOP Project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+ interface-based design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310896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1C7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«interface»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i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3108960" cy="0"/>
          </a:xfrm>
          <a:prstGeom prst="line">
            <a:avLst/>
          </a:prstGeom>
          <a:noFill/>
          <a:ln w="12700">
            <a:solidFill>
              <a:srgbClr val="21C7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addResearchPaper(p)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addResearchProject(p)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calculateHIndex(): int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startNewProject(t, d)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viewResearchInfo()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023360" y="1371600"/>
            <a:ext cx="4754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4023360" y="1371600"/>
            <a:ext cx="73152" cy="1051560"/>
          </a:xfrm>
          <a:prstGeom prst="rect">
            <a:avLst/>
          </a:prstGeom>
          <a:solidFill>
            <a:srgbClr val="21C7B8"/>
          </a:solidFill>
          <a:ln w="12700">
            <a:solidFill>
              <a:srgbClr val="21C7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4206240" y="1444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ResearchEmployee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06240" y="17373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Researcher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Employee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h-index gate ≥ 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0" y="2560320"/>
            <a:ext cx="4754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3" name="Shape 11"/>
          <p:cNvSpPr/>
          <p:nvPr/>
        </p:nvSpPr>
        <p:spPr>
          <a:xfrm>
            <a:off x="4023360" y="2560320"/>
            <a:ext cx="73152" cy="1051560"/>
          </a:xfrm>
          <a:prstGeom prst="rect">
            <a:avLst/>
          </a:prstGeom>
          <a:solidFill>
            <a:srgbClr val="21C7B8"/>
          </a:solidFill>
          <a:ln w="12700">
            <a:solidFill>
              <a:srgbClr val="21C7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4206240" y="2633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ResearchPaper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0" y="29260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authors, year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citations, journal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addCitation()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23360" y="3749040"/>
            <a:ext cx="4754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7" name="Shape 15"/>
          <p:cNvSpPr/>
          <p:nvPr/>
        </p:nvSpPr>
        <p:spPr>
          <a:xfrm>
            <a:off x="4023360" y="3749040"/>
            <a:ext cx="73152" cy="1051560"/>
          </a:xfrm>
          <a:prstGeom prst="rect">
            <a:avLst/>
          </a:prstGeom>
          <a:solidFill>
            <a:srgbClr val="21C7B8"/>
          </a:solidFill>
          <a:ln w="12700">
            <a:solidFill>
              <a:srgbClr val="21C7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4206240" y="38221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ResearchProject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0" y="41148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description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publishedPapers[]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isActive, finish()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 LowHIndexException  •  NotAResearcherException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1C7B8"/>
          </a:solidFill>
          <a:ln w="12700">
            <a:solidFill>
              <a:srgbClr val="21C7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Management System  |  OOP Project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Communication Subsystem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users talk to each other and to the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777240" cy="7772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</a:rPr>
              <a:t>✉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011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user-to-user exchange.  Stored in each User's inbox.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4846320" y="1645920"/>
            <a:ext cx="777240" cy="7772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4846320" y="1645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</a:rPr>
              <a:t>📋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76072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60720" y="2011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request from any user.  approve() / reject() by Manager.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5" name="Shape 13"/>
          <p:cNvSpPr/>
          <p:nvPr/>
        </p:nvSpPr>
        <p:spPr>
          <a:xfrm>
            <a:off x="640080" y="3246120"/>
            <a:ext cx="777240" cy="7772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</a:rPr>
              <a:t>⚠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5448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Complaint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3611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raised by a user.  resolve() closes the case.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0" name="Shape 18"/>
          <p:cNvSpPr/>
          <p:nvPr/>
        </p:nvSpPr>
        <p:spPr>
          <a:xfrm>
            <a:off x="4846320" y="3246120"/>
            <a:ext cx="777240" cy="7772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4846320" y="3246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</a:rPr>
              <a:t>📢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76072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60720" y="3611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by Manager.  Pushed to Observers via Observable.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1C7B8"/>
          </a:solidFill>
          <a:ln w="12700">
            <a:solidFill>
              <a:srgbClr val="21C7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Text 23"/>
          <p:cNvSpPr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Management System  |  OOP Project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Patterns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classic GoF patterns in action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1481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Singleton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874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 •  Logger  •  UserFactory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0" y="148132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instance, accessed via getInstance(). Guarantees a single point of truth for shared state.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71600" y="2624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017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UserFactory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0" y="262432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Centralizes object creation. Callers ask for a Student/Teacher/… without knowing constructor details.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54864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71600" y="3767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Observable (Manager)  •  Observer (Student)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06240" y="376732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Manager publishes News, every subscribed Student is notified automatically.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1C7B8"/>
          </a:solidFill>
          <a:ln w="12700">
            <a:solidFill>
              <a:srgbClr val="21C7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Management System  |  OOP Project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Exception Handling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checked exceptions guard domain invariants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7432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MaxCreditsExceededException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MaxFailsExceededException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InvalidMarkException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CourseNotFoundException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CourseFullException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AlreadyRegisteredException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7432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324612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82880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3383280" y="192024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LowHIndexException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NotAResearcherException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743200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612648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AUTH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6263640" y="192024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UserNotFoundException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UserAlreadyExistsException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InvalidCredentialsException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PermissionDeniedException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3434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extend java.lang.Exception → caller must handle or declare them.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1C7B8"/>
          </a:solidFill>
          <a:ln w="12700">
            <a:solidFill>
              <a:srgbClr val="21C7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Management System  |  OOP Project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1C7B8"/>
          </a:solidFill>
          <a:ln w="12700">
            <a:solidFill>
              <a:srgbClr val="21C7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&amp; 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compiled bytecode to a working 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029200" cy="3108960"/>
          </a:xfrm>
          <a:prstGeom prst="rect">
            <a:avLst/>
          </a:prstGeom>
          <a:solidFill>
            <a:srgbClr val="0F2A3F"/>
          </a:solidFill>
          <a:ln w="12700">
            <a:solidFill>
              <a:srgbClr val="21C7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C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java -cp out Main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4754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E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Aibek Nurlanov logged in.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E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 All Users ====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E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ResearchEmployee{Yerlan Bek, h-index=0}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E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Manager{Madina, type=DEAN_OFFICE}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E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Teacher{Daulet, SENIOR_LECTOR}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E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Student(S2025-01, Aigerim, BACHELOR)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E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Admin(Aibek Nurlanov)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E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DB: added course CS101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B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Caught: User not found: UNKNOWN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E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Aibek Nurlanov logged out.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760720" y="1463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1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0" y="182880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by package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+ interfaces used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+ Factory + Observer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exceptions per domain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&amp; runs end-to-end 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710</Words>
  <Application>Microsoft Macintosh PowerPoint</Application>
  <PresentationFormat>Экран (16:9)</PresentationFormat>
  <Paragraphs>191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Management System — OOP</dc:title>
  <dc:subject>PptxGenJS Presentation</dc:subject>
  <dc:creator>OOP Team</dc:creator>
  <cp:lastModifiedBy>Nurassyl Khandilda</cp:lastModifiedBy>
  <cp:revision>2</cp:revision>
  <dcterms:created xsi:type="dcterms:W3CDTF">2026-05-17T12:45:14Z</dcterms:created>
  <dcterms:modified xsi:type="dcterms:W3CDTF">2026-05-17T12:54:51Z</dcterms:modified>
</cp:coreProperties>
</file>